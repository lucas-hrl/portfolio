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86" r:id="rId6"/>
    <p:sldId id="260" r:id="rId7"/>
    <p:sldId id="297" r:id="rId8"/>
    <p:sldId id="299" r:id="rId9"/>
    <p:sldId id="262" r:id="rId10"/>
    <p:sldId id="263" r:id="rId11"/>
    <p:sldId id="264" r:id="rId12"/>
    <p:sldId id="298" r:id="rId13"/>
    <p:sldId id="287" r:id="rId14"/>
    <p:sldId id="288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4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605C5C-4A0D-492A-8C0F-25D95AE1ADAC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B1B061-DF4E-4763-AFD1-4DC9C3125D51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56EECD-362A-4374-9278-DE37F8E68538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19646C-367F-46BB-89CA-CCFE5998FADB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Cliquez pour 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B0B140-5DAC-42CE-A623-E8D7B5278D9C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AAAFAA-7F76-4049-B259-28B3C08768C5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80F765-3A4E-4AAB-8124-AEB6ED459D1F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48BA45-E559-4125-BAA6-5BCDFCAB2B2C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436038-7B04-4508-AFD4-F6248C639564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u avec légen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26C618-610C-4471-B011-E322DC78ACEF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 avec légen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modifier les styles du texte du masque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70C467-D342-4BB6-B751-BBCE7DE04EFC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fr-FR" sz="6000" b="1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SAE2.04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M. BINDEL (Partie Réseau)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M. ALBERT (Partie Web et </a:t>
            </a:r>
            <a:r>
              <a:rPr lang="fr-FR" sz="2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BdD</a:t>
            </a: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)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M. HENSEL (Partie Téléphonie)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M. MURA (Partie Collecte)</a:t>
            </a: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dirty="0">
                <a:solidFill>
                  <a:schemeClr val="dk1"/>
                </a:solidFill>
                <a:latin typeface="Calibri"/>
              </a:rPr>
              <a:t>M. BENNIS (Partie Réseau et Web/</a:t>
            </a:r>
            <a:r>
              <a:rPr lang="fr-FR" sz="2400" dirty="0" err="1">
                <a:solidFill>
                  <a:schemeClr val="dk1"/>
                </a:solidFill>
                <a:latin typeface="Calibri"/>
              </a:rPr>
              <a:t>BdD</a:t>
            </a:r>
            <a:r>
              <a:rPr lang="fr-FR" sz="2400" dirty="0">
                <a:solidFill>
                  <a:schemeClr val="dk1"/>
                </a:solidFill>
                <a:latin typeface="Calibri"/>
              </a:rPr>
              <a:t>)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Organisation	</a:t>
            </a:r>
            <a:endParaRPr lang="fr-FR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SAE Intégrative: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Volonté de regrouper l’ensemble des Ressources et SAE en une seule SAE afin de valider vos compétences </a:t>
            </a:r>
            <a:r>
              <a:rPr lang="fr-FR" sz="2400" b="0" u="none" strike="noStrike" dirty="0">
                <a:solidFill>
                  <a:srgbClr val="FF0000"/>
                </a:solidFill>
                <a:effectLst/>
                <a:uFillTx/>
                <a:latin typeface="Calibri"/>
              </a:rPr>
              <a:t>fondamentales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4 parties: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Réseau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Téléphonie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Collecte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Web/</a:t>
            </a:r>
            <a:r>
              <a:rPr lang="fr-FR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BdD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Notes: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Validations des parties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Test Moodle individuel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</a:rPr>
              <a:t>Schéma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33840" y="43560"/>
            <a:ext cx="10515240" cy="62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Organisation	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13E52A1-9C64-40C9-93A2-604737DFF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910"/>
            <a:ext cx="12192000" cy="6153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33840" y="43560"/>
            <a:ext cx="10515240" cy="62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Organisation	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A1B6734-0B89-46A9-8B7E-A623FA666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1465"/>
            <a:ext cx="12192000" cy="5933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33840" y="43560"/>
            <a:ext cx="10515240" cy="62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Organisation	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94B5876-3C1F-44BB-89F5-71A11656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92" y="648256"/>
            <a:ext cx="10451416" cy="616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73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186120"/>
            <a:ext cx="11549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 dirty="0">
                <a:solidFill>
                  <a:srgbClr val="0070C0"/>
                </a:solidFill>
                <a:effectLst/>
                <a:uFillTx/>
                <a:latin typeface="Calibri Light"/>
              </a:rPr>
              <a:t>GROUPES</a:t>
            </a:r>
            <a:r>
              <a:rPr lang="fr-FR" sz="4400" b="1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 et </a:t>
            </a:r>
            <a:r>
              <a:rPr lang="fr-FR" sz="4400" b="1" u="none" strike="noStrike" dirty="0">
                <a:solidFill>
                  <a:srgbClr val="FF0000"/>
                </a:solidFill>
                <a:effectLst/>
                <a:uFillTx/>
                <a:latin typeface="Calibri Light"/>
              </a:rPr>
              <a:t>SALLES</a:t>
            </a:r>
            <a:r>
              <a:rPr lang="fr-FR" sz="4400" b="1" u="none" strike="noStrike" dirty="0">
                <a:solidFill>
                  <a:srgbClr val="0070C0"/>
                </a:solidFill>
                <a:effectLst/>
                <a:uFillTx/>
                <a:latin typeface="Calibri Light"/>
              </a:rPr>
              <a:t>: </a:t>
            </a:r>
            <a:br>
              <a:rPr lang="fr-FR" sz="4400" b="1" u="none" strike="noStrike" dirty="0">
                <a:solidFill>
                  <a:srgbClr val="0070C0"/>
                </a:solidFill>
                <a:effectLst/>
                <a:uFillTx/>
                <a:latin typeface="Calibri Light"/>
              </a:rPr>
            </a:br>
            <a:r>
              <a:rPr lang="fr-FR" sz="4400" b="1" u="none" strike="noStrike" dirty="0">
                <a:solidFill>
                  <a:srgbClr val="FF0000"/>
                </a:solidFill>
                <a:effectLst/>
                <a:uFillTx/>
                <a:latin typeface="Calibri Light"/>
              </a:rPr>
              <a:t>C001 - C007 - C100 - C102 - C103 - C104</a:t>
            </a:r>
            <a:br>
              <a:rPr sz="4400" dirty="0"/>
            </a:br>
            <a:r>
              <a:rPr lang="fr-FR" sz="4400" b="1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	</a:t>
            </a:r>
            <a:endParaRPr lang="fr-FR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912672" y="1165552"/>
            <a:ext cx="10989720" cy="275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rgbClr val="0070C0"/>
                </a:solidFill>
                <a:effectLst/>
                <a:uFillTx/>
                <a:latin typeface="Calibri"/>
              </a:rPr>
              <a:t>4 groupes maximum par salle. Une fois que vous avez pris un poste, vous le garder jusqu’à la fin !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itre 1"/>
          <p:cNvSpPr/>
          <p:nvPr/>
        </p:nvSpPr>
        <p:spPr>
          <a:xfrm>
            <a:off x="457200" y="1703520"/>
            <a:ext cx="11557800" cy="13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Déroulement et validations	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6"/>
          <p:cNvSpPr/>
          <p:nvPr/>
        </p:nvSpPr>
        <p:spPr>
          <a:xfrm>
            <a:off x="176760" y="2614680"/>
            <a:ext cx="11837520" cy="3784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2400" b="0" u="none" strike="noStrike" dirty="0">
                <a:solidFill>
                  <a:srgbClr val="00B050"/>
                </a:solidFill>
                <a:effectLst/>
                <a:uFillTx/>
                <a:latin typeface="Calibri"/>
              </a:rPr>
              <a:t>Les validations se feront au fil de l’eau selon les disponibilités des enseignants.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fr-FR" sz="2400" b="0" u="none" strike="noStrike" dirty="0">
                <a:solidFill>
                  <a:srgbClr val="00B050"/>
                </a:solidFill>
                <a:effectLst/>
                <a:uFillTx/>
                <a:latin typeface="Calibri"/>
              </a:rPr>
              <a:t>Au plus tard lundi matin le 30 juin…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fr-FR" sz="2400" b="0" u="none" dirty="0">
                <a:solidFill>
                  <a:srgbClr val="00B050"/>
                </a:solidFill>
                <a:effectLst/>
                <a:uFillTx/>
                <a:latin typeface="Calibri"/>
              </a:rPr>
              <a:t>Il n’y aura pas de validations pour la Partie Réseau (base du projet donc censé fonctionner !).</a:t>
            </a:r>
            <a:endParaRPr lang="fr-FR" sz="2400" b="0" u="non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rgbClr val="FF0000"/>
                </a:solidFill>
                <a:effectLst/>
                <a:uFillTx/>
                <a:latin typeface="Calibri"/>
              </a:rPr>
              <a:t>Test Moodle individuel sur toutes les parties lundi 30 juin en début d’après-midi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70C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rgbClr val="0070C0"/>
                </a:solidFill>
                <a:effectLst/>
                <a:uFillTx/>
                <a:latin typeface="Calibri"/>
              </a:rPr>
              <a:t>A rendre par groupe: 1 schéma d’infrastructure matérielle et logicielle (version OS, Adresses IP, etc. ) sur feuille A4 imprimée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Matériel mis à disposition par Groupe:</a:t>
            </a:r>
            <a:endParaRPr lang="fr-FR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800" b="0" u="none" strike="noStrike" dirty="0">
                <a:effectLst/>
                <a:uFillTx/>
                <a:latin typeface="Calibri"/>
              </a:rPr>
              <a:t>1 routeur</a:t>
            </a: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</a:rPr>
              <a:t>1 commutateur</a:t>
            </a: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</a:rPr>
              <a:t>1 PC serveur</a:t>
            </a:r>
          </a:p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</a:rPr>
              <a:t>2 </a:t>
            </a:r>
            <a:r>
              <a:rPr lang="fr-FR" sz="2800" dirty="0" err="1">
                <a:latin typeface="Calibri"/>
              </a:rPr>
              <a:t>PCs</a:t>
            </a:r>
            <a:r>
              <a:rPr lang="fr-FR" sz="2800" dirty="0">
                <a:latin typeface="Calibri"/>
              </a:rPr>
              <a:t> utilisateur softphone</a:t>
            </a:r>
          </a:p>
          <a:p>
            <a:pPr marL="457200" indent="-457200">
              <a:spcBef>
                <a:spcPts val="1001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</a:rPr>
              <a:t>1 téléphone IP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endParaRPr lang="fr-FR" sz="2800" dirty="0"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endParaRPr lang="fr-FR" sz="2400" b="0" u="none" strike="noStrike" dirty="0"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fr-FR" sz="2800" b="0" u="none" strike="noStrike" dirty="0"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5782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Consignes:</a:t>
            </a:r>
            <a:endParaRPr lang="fr-FR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800" b="0" u="none" strike="noStrike" dirty="0">
                <a:effectLst/>
                <a:uFillTx/>
                <a:latin typeface="Calibri"/>
              </a:rPr>
              <a:t>Garder votre espace de travail propre et rangé (pas de boissons et nourritures)</a:t>
            </a:r>
            <a:endParaRPr lang="fr-FR" sz="2800" dirty="0">
              <a:latin typeface="Calibri"/>
            </a:endParaRPr>
          </a:p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</a:rPr>
              <a:t>Prendre soin du matériel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</a:rPr>
              <a:t>Si l’ensemble de ces consignes ne sont pas respectées, des pénalités seront appliquées (points en moins, remboursement, etc.) 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endParaRPr lang="fr-FR" sz="2400" b="0" u="none" strike="noStrike" dirty="0"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fr-FR" sz="2800" b="0" u="none" strike="noStrike" dirty="0"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708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fr-FR" sz="6000" b="1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Partie Réseau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M. BINDEL + M. GARINET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réseau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ZoneTexte 74"/>
          <p:cNvSpPr txBox="1"/>
          <p:nvPr/>
        </p:nvSpPr>
        <p:spPr>
          <a:xfrm>
            <a:off x="900000" y="1980000"/>
            <a:ext cx="10260000" cy="2885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sng" strike="noStrike" kern="1200" cap="none" spc="0" normalizeH="0" baseline="0" noProof="0">
                <a:ln>
                  <a:noFill/>
                </a:ln>
                <a:solidFill>
                  <a:srgbClr val="C9211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Objectif :</a:t>
            </a:r>
            <a:r>
              <a:rPr kumimoji="0" lang="fr-FR" sz="2400" b="1" i="0" u="none" strike="noStrike" kern="1200" cap="none" spc="0" normalizeH="0" baseline="0" noProof="0">
                <a:ln>
                  <a:noFill/>
                </a:ln>
                <a:solidFill>
                  <a:srgbClr val="C9211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savoir configurer un réseau local</a:t>
            </a:r>
            <a:endParaRPr kumimoji="0" lang="fr-FR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Not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Not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sng" strike="noStrike" kern="1200" cap="none" spc="0" normalizeH="0" baseline="0" noProof="0">
                <a:ln>
                  <a:noFill/>
                </a:ln>
                <a:solidFill>
                  <a:srgbClr val="C9211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Matériels :</a:t>
            </a:r>
            <a:r>
              <a:rPr kumimoji="0" lang="fr-FR" sz="2400" b="1" i="0" u="none" strike="noStrike" kern="1200" cap="none" spc="0" normalizeH="0" baseline="0" noProof="0">
                <a:ln>
                  <a:noFill/>
                </a:ln>
                <a:solidFill>
                  <a:srgbClr val="C9211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routeur + commutateur (niveau 2) + machines virtuelles</a:t>
            </a:r>
            <a:endParaRPr kumimoji="0" lang="fr-FR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Not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Noto Sans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sng" strike="noStrike" kern="1200" cap="none" spc="0" normalizeH="0" baseline="0" noProof="0">
                <a:ln>
                  <a:noFill/>
                </a:ln>
                <a:solidFill>
                  <a:srgbClr val="C9211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 :</a:t>
            </a:r>
            <a:r>
              <a:rPr kumimoji="0" lang="fr-FR" sz="2400" b="1" i="0" u="none" strike="noStrike" kern="1200" cap="none" spc="0" normalizeH="0" baseline="0" noProof="0">
                <a:ln>
                  <a:noFill/>
                </a:ln>
                <a:solidFill>
                  <a:srgbClr val="C9211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validation + test final</a:t>
            </a:r>
            <a:endParaRPr kumimoji="0" lang="fr-FR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Noto Sans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lang="fr-FR" b="1" dirty="0">
                <a:solidFill>
                  <a:schemeClr val="dk1"/>
                </a:solidFill>
                <a:latin typeface="Calibri Light"/>
              </a:rPr>
              <a:t>Tâches à effectuer</a:t>
            </a:r>
            <a:endParaRPr lang="fr-FR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08200" y="1620000"/>
            <a:ext cx="10891800" cy="47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gestion des VLAN et segmentation IP,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sécurité des réseaux : ACL, </a:t>
            </a:r>
            <a:r>
              <a:rPr lang="fr-FR" sz="28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iptables</a:t>
            </a:r>
            <a:endParaRPr lang="fr-FR" sz="2800" b="0" u="none" strike="noStrike" dirty="0" err="1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gestion de la configuration réseau : DHCP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accès au réseau extérieur via un NAT,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déploiement de services : FTP, NTP, </a:t>
            </a:r>
            <a:r>
              <a:rPr lang="fr-FR" sz="28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Rsyslog</a:t>
            </a:r>
            <a:r>
              <a:rPr lang="fr-FR" sz="2800" dirty="0">
                <a:solidFill>
                  <a:schemeClr val="dk1"/>
                </a:solidFill>
                <a:latin typeface="Calibri"/>
                <a:ea typeface="Calibri"/>
              </a:rPr>
              <a:t> sur le serveur.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outils pour le débogage : ports mirroring, </a:t>
            </a:r>
            <a:r>
              <a:rPr lang="fr-FR" sz="28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Rsyslog</a:t>
            </a: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 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C3CB4-9193-5F69-D772-E2C64012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EF862A75-D4D4-4407-916D-F5C2EEC7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lang="fr-FR" b="1" dirty="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Gestion des VLAN</a:t>
            </a:r>
            <a:endParaRPr lang="fr-FR" sz="4400" b="1" u="none" strike="noStrike" dirty="0">
              <a:solidFill>
                <a:schemeClr val="dk1"/>
              </a:solidFill>
              <a:effectLst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969C4952-18C4-254D-9283-0FC1666909F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0857" y="1685314"/>
            <a:ext cx="10859143" cy="30396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 VLAN à gérer (v</a:t>
            </a:r>
            <a:r>
              <a:rPr lang="fr-FR" sz="2400" i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oix, utilisateurs, serveur et administrateur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),</a:t>
            </a:r>
            <a:endParaRPr lang="fr-FR" sz="2400" dirty="0">
              <a:solidFill>
                <a:schemeClr val="dk1"/>
              </a:solidFill>
              <a:ea typeface="Calibri Light" panose="020F0302020204030204"/>
              <a:cs typeface="Calibri Light" panose="020F0302020204030204"/>
            </a:endParaRP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VLAN voix et utilisateurs dédiés à la partie </a:t>
            </a:r>
            <a:r>
              <a:rPr lang="fr-FR" sz="24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téléphonie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VLAN serveur dédié à la </a:t>
            </a:r>
            <a:r>
              <a:rPr lang="fr-FR" sz="24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partie web</a:t>
            </a:r>
            <a:r>
              <a:rPr lang="fr-FR" sz="2400" dirty="0">
                <a:latin typeface="Calibri"/>
                <a:ea typeface="Calibri"/>
                <a:cs typeface="Calibri"/>
              </a:rPr>
              <a:t>,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l'ensemble des VLAN ont accès au réseau extérieur.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Routage inter-vlan assuré par le routeur.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8501605-B780-3022-6B6D-0FAEC2F2BBBE}"/>
              </a:ext>
            </a:extLst>
          </p:cNvPr>
          <p:cNvSpPr txBox="1"/>
          <p:nvPr/>
        </p:nvSpPr>
        <p:spPr>
          <a:xfrm>
            <a:off x="1959429" y="5290456"/>
            <a:ext cx="1545772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Sécurité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8FD436C1-F9C8-8971-99A4-6284208F07F8}"/>
              </a:ext>
            </a:extLst>
          </p:cNvPr>
          <p:cNvSpPr txBox="1"/>
          <p:nvPr/>
        </p:nvSpPr>
        <p:spPr>
          <a:xfrm>
            <a:off x="6781801" y="4582884"/>
            <a:ext cx="4561113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Bloquer les ping du VLAN 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utilisateurs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vers le VLAN 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administrateur</a:t>
            </a:r>
            <a:endParaRPr kumimoji="0" lang="fr-FR" sz="2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8B153363-41E0-102A-DA7C-DF560695DBF7}"/>
              </a:ext>
            </a:extLst>
          </p:cNvPr>
          <p:cNvSpPr txBox="1"/>
          <p:nvPr/>
        </p:nvSpPr>
        <p:spPr>
          <a:xfrm>
            <a:off x="6781800" y="5660570"/>
            <a:ext cx="4561113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Autoriser les ping du VLAN 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administrateur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vers le VLAN 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utilisateurs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B044944E-C0F5-B171-A8A2-9C0CC69C6A2D}"/>
              </a:ext>
            </a:extLst>
          </p:cNvPr>
          <p:cNvSpPr/>
          <p:nvPr/>
        </p:nvSpPr>
        <p:spPr>
          <a:xfrm>
            <a:off x="3831772" y="5225142"/>
            <a:ext cx="2808514" cy="468085"/>
          </a:xfrm>
          <a:prstGeom prst="rightArrow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643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34964D-6ACC-0F71-4E25-F87976D65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0EC2218B-33A9-EC2E-081E-B5159B622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lang="fr-FR" b="1" dirty="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Adressage et connectivité</a:t>
            </a:r>
            <a:endParaRPr lang="fr-FR" sz="4400" b="1" u="none" strike="noStrike" dirty="0">
              <a:solidFill>
                <a:schemeClr val="dk1"/>
              </a:solidFill>
              <a:effectLst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0FEC9CF5-6B70-29FD-2D2E-A5B9385D195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47894" y="1690200"/>
            <a:ext cx="10673482" cy="34699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20000"/>
          </a:bodyPr>
          <a:lstStyle/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3400" dirty="0">
                <a:solidFill>
                  <a:schemeClr val="dk1"/>
                </a:solidFill>
                <a:latin typeface="Calibri"/>
                <a:cs typeface="Calibri"/>
              </a:rPr>
              <a:t>Service DHCP déployé sur le routeur,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3400" dirty="0">
                <a:solidFill>
                  <a:schemeClr val="dk1"/>
                </a:solidFill>
                <a:latin typeface="Calibri"/>
                <a:cs typeface="Calibri"/>
              </a:rPr>
              <a:t>Le DNS gère votre domaine : </a:t>
            </a:r>
            <a:r>
              <a:rPr lang="fr-FR" sz="3400" b="1" dirty="0">
                <a:solidFill>
                  <a:schemeClr val="dk1"/>
                </a:solidFill>
                <a:latin typeface="Calibri"/>
                <a:cs typeface="Calibri"/>
              </a:rPr>
              <a:t>sae24.rt </a:t>
            </a:r>
            <a:r>
              <a:rPr lang="fr-FR" sz="3400" dirty="0">
                <a:solidFill>
                  <a:schemeClr val="dk1"/>
                </a:solidFill>
                <a:latin typeface="Calibri"/>
                <a:cs typeface="Calibri"/>
              </a:rPr>
              <a:t>et transmet les requêtes qu’il ne peut pas résoudre localement vers le serveur DNS de l’IUT.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3400" dirty="0">
                <a:solidFill>
                  <a:schemeClr val="dk1"/>
                </a:solidFill>
                <a:latin typeface="Calibri"/>
                <a:cs typeface="Calibri"/>
              </a:rPr>
              <a:t>Le serveur Web est joignable par www.sae24.rt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3400" dirty="0">
                <a:solidFill>
                  <a:schemeClr val="dk1"/>
                </a:solidFill>
                <a:latin typeface="Calibri"/>
                <a:cs typeface="Calibri"/>
              </a:rPr>
              <a:t>surcharge du NAT effectué par le routeur,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3400" dirty="0">
                <a:solidFill>
                  <a:schemeClr val="dk1"/>
                </a:solidFill>
                <a:latin typeface="Calibri"/>
                <a:cs typeface="Calibri"/>
              </a:rPr>
              <a:t>mise en place de réplication du trafic (port mirroring)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5982F38-E187-9D1B-8505-83E911A5662B}"/>
              </a:ext>
            </a:extLst>
          </p:cNvPr>
          <p:cNvSpPr txBox="1"/>
          <p:nvPr/>
        </p:nvSpPr>
        <p:spPr>
          <a:xfrm>
            <a:off x="1894115" y="5464627"/>
            <a:ext cx="1545772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NAT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247829A8-D05A-61B7-8D2F-96CE4DF48BE0}"/>
              </a:ext>
            </a:extLst>
          </p:cNvPr>
          <p:cNvSpPr txBox="1"/>
          <p:nvPr/>
        </p:nvSpPr>
        <p:spPr>
          <a:xfrm>
            <a:off x="6879772" y="5497285"/>
            <a:ext cx="4561113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Utilisation d'une ACL nommée NAT.</a:t>
            </a:r>
            <a:endParaRPr kumimoji="0" lang="fr-FR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897F11AD-E3CD-DDF5-0BD8-F682CE09B7F2}"/>
              </a:ext>
            </a:extLst>
          </p:cNvPr>
          <p:cNvSpPr/>
          <p:nvPr/>
        </p:nvSpPr>
        <p:spPr>
          <a:xfrm>
            <a:off x="3712029" y="5464628"/>
            <a:ext cx="2808514" cy="468085"/>
          </a:xfrm>
          <a:prstGeom prst="rightArrow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921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363A2-860D-4DFC-5B20-CD2E42CF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CA7F2D84-511C-3C6C-2570-C0B169B19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lang="fr-FR" b="1" dirty="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Sécurité du serveur</a:t>
            </a:r>
            <a:endParaRPr lang="fr-FR" sz="4400" b="1" u="none" strike="noStrike" dirty="0">
              <a:solidFill>
                <a:schemeClr val="dk1"/>
              </a:solidFill>
              <a:effectLst/>
              <a:uFillTx/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77" name="PlaceHolder 2">
            <a:extLst>
              <a:ext uri="{FF2B5EF4-FFF2-40B4-BE49-F238E27FC236}">
                <a16:creationId xmlns:a16="http://schemas.microsoft.com/office/drawing/2014/main" id="{46554001-9382-C230-8AC0-033BC49510A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40857" y="1685314"/>
            <a:ext cx="10859143" cy="30396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Utilisation de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iptables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autoriser le </a:t>
            </a:r>
            <a:r>
              <a:rPr lang="fr-FR" sz="24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DNS 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pour la résolution des noms,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autoriser le trafic HTTP, HTTPS pour les mises à jour et le serveur web,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autoriser le trafic FTP,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Autoriser le port 514 (entrant/sortant ?).</a:t>
            </a: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E0855D8-8BAF-F70E-44FE-1535CD2795BB}"/>
              </a:ext>
            </a:extLst>
          </p:cNvPr>
          <p:cNvSpPr txBox="1"/>
          <p:nvPr/>
        </p:nvSpPr>
        <p:spPr>
          <a:xfrm>
            <a:off x="1186544" y="5290455"/>
            <a:ext cx="2253343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Politique DROP par défaut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F5DD81A6-0298-8167-F3E4-79D113DC5382}"/>
              </a:ext>
            </a:extLst>
          </p:cNvPr>
          <p:cNvSpPr txBox="1"/>
          <p:nvPr/>
        </p:nvSpPr>
        <p:spPr>
          <a:xfrm>
            <a:off x="6792686" y="5497285"/>
            <a:ext cx="4561113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Trafic INPUT, OUTPUT, FORWARD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DAEA2576-7289-F0BA-E3EC-A88E4D8EB1F3}"/>
              </a:ext>
            </a:extLst>
          </p:cNvPr>
          <p:cNvSpPr/>
          <p:nvPr/>
        </p:nvSpPr>
        <p:spPr>
          <a:xfrm>
            <a:off x="3712029" y="5464628"/>
            <a:ext cx="2808514" cy="468085"/>
          </a:xfrm>
          <a:prstGeom prst="rightArrow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8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Support pour les autres parties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Espace réservé du contenu 1"/>
          <p:cNvSpPr txBox="1"/>
          <p:nvPr/>
        </p:nvSpPr>
        <p:spPr>
          <a:xfrm>
            <a:off x="808560" y="1620360"/>
            <a:ext cx="10891800" cy="4759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fr-FR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Téléphonie</a:t>
            </a: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 : tous les VLAN ont un accès au réseau extérieur.</a:t>
            </a:r>
            <a:endParaRPr kumimoji="0" lang="fr-FR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64000" marR="0" lvl="1" indent="-324000" algn="l" defTabSz="914400" rtl="0" eaLnBrk="1" fontAlgn="auto" latinLnBrk="0" hangingPunct="1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NAT fonctionnel,</a:t>
            </a:r>
            <a:endParaRPr kumimoji="0" lang="fr-FR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64000" marR="0" lvl="1" indent="-324000" algn="l" defTabSz="914400" rtl="0" eaLnBrk="1" fontAlgn="auto" latinLnBrk="0" hangingPunct="1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VLAN fonctionnel,</a:t>
            </a:r>
            <a:endParaRPr kumimoji="0" lang="fr-FR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64000" marR="0" lvl="1" indent="-324000" algn="l" defTabSz="914400" rtl="0" eaLnBrk="1" fontAlgn="auto" latinLnBrk="0" hangingPunct="1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ACLs correctement configurées.</a:t>
            </a:r>
            <a:endParaRPr kumimoji="0" lang="fr-FR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fr-FR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 Web :</a:t>
            </a: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 le serveur doit être accessible.</a:t>
            </a:r>
            <a:endParaRPr kumimoji="0" lang="fr-FR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64000" marR="0" lvl="1" indent="-324000" algn="l" defTabSz="914400" rtl="0" eaLnBrk="1" fontAlgn="auto" latinLnBrk="0" hangingPunct="1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Pré-requis de la partie téléphonie,</a:t>
            </a:r>
            <a:endParaRPr kumimoji="0" lang="fr-FR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64000" marR="0" lvl="1" indent="-324000" algn="l" defTabSz="914400" rtl="0" eaLnBrk="1" fontAlgn="auto" latinLnBrk="0" hangingPunct="1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 charset="2"/>
              <a:buChar char=""/>
              <a:tabLst/>
              <a:defRPr/>
            </a:pP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règles iptables fonctionnelles.</a:t>
            </a:r>
            <a:endParaRPr kumimoji="0" lang="fr-FR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Téléphonie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M. HENSEL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Téléphonie: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 3"/>
          <p:cNvPicPr/>
          <p:nvPr/>
        </p:nvPicPr>
        <p:blipFill>
          <a:blip r:embed="rId2"/>
          <a:stretch/>
        </p:blipFill>
        <p:spPr>
          <a:xfrm>
            <a:off x="446760" y="237600"/>
            <a:ext cx="11297880" cy="6382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Téléphonie: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Image 4"/>
          <p:cNvPicPr/>
          <p:nvPr/>
        </p:nvPicPr>
        <p:blipFill>
          <a:blip r:embed="rId2"/>
          <a:stretch/>
        </p:blipFill>
        <p:spPr>
          <a:xfrm>
            <a:off x="446760" y="232920"/>
            <a:ext cx="11297880" cy="6391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87" name="Image 6"/>
          <p:cNvPicPr/>
          <p:nvPr/>
        </p:nvPicPr>
        <p:blipFill>
          <a:blip r:embed="rId2"/>
          <a:stretch/>
        </p:blipFill>
        <p:spPr>
          <a:xfrm>
            <a:off x="456480" y="242280"/>
            <a:ext cx="11278800" cy="63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Collecte de Données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M. </a:t>
            </a:r>
            <a:r>
              <a:rPr lang="fr-FR" sz="2400" dirty="0">
                <a:solidFill>
                  <a:schemeClr val="dk1"/>
                </a:solidFill>
                <a:latin typeface="Calibri"/>
              </a:rPr>
              <a:t>ALBERT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récupération des données de capteurs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891800" cy="47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Utilisation du MQTT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Broker: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test.mosquitto.org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broker.hivemq.com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Topic: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IUT/Colmar2025/SAE2.04/Maison1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IUT/Colmar2025/SAE2.04/Maison2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Message: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Envoyé toutes les 5 secondes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Du type: </a:t>
            </a:r>
            <a:r>
              <a:rPr lang="fr-FR" sz="2400" b="1" u="none" strike="noStrike" dirty="0">
                <a:solidFill>
                  <a:srgbClr val="FF0000"/>
                </a:solidFill>
                <a:effectLst/>
                <a:uFillTx/>
                <a:latin typeface="Calibri"/>
              </a:rPr>
              <a:t>Id=12A6B8AF6CD3,piece=</a:t>
            </a:r>
            <a:r>
              <a:rPr lang="fr-FR" sz="2400" b="1" u="none" strike="noStrike" dirty="0" err="1">
                <a:solidFill>
                  <a:srgbClr val="FF0000"/>
                </a:solidFill>
                <a:effectLst/>
                <a:uFillTx/>
                <a:latin typeface="Calibri"/>
              </a:rPr>
              <a:t>sejour,date</a:t>
            </a:r>
            <a:r>
              <a:rPr lang="fr-FR" sz="2400" b="1" u="none" strike="noStrike" dirty="0">
                <a:solidFill>
                  <a:srgbClr val="FF0000"/>
                </a:solidFill>
                <a:effectLst/>
                <a:uFillTx/>
                <a:latin typeface="Calibri"/>
              </a:rPr>
              <a:t>=15/06/2022,heure=12:13:14,temp=26,35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récupération des données de capteurs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7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Logiciel pour tester: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Windows: </a:t>
            </a:r>
            <a:r>
              <a:rPr lang="fr-FR" sz="2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MqttBox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Ubuntu: 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MQTT Explorer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mosquitto</a:t>
            </a:r>
            <a:r>
              <a:rPr lang="fr-FR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-clients: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Android: IoT MQTT Panel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Iphone</a:t>
            </a:r>
            <a:r>
              <a:rPr lang="fr-F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: IoT MQTT Panel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récupération des données de capteurs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7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VALIDATIONS: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Réception des messages en mode terminal (exécution de votre script python)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Messages mis dans un fichier texte ou directement dans la BdD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Web et Base de Données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Web et BdD : Prérequis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Le broker envoie des données avec un ID unique, un timestamp, une pièce (par ex. Maison1) et une donnée : température.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Plusieurs capteurs (avec des ID différents) publieront des données. 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La collecte de données se fera sous un système Linux Ubuntu dans une VM ou machine physique.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Les données peuvent être enregistrées dans un fichier dans un format que vous définirez.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Schéma général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101" name="Groupe 12"/>
          <p:cNvGrpSpPr/>
          <p:nvPr/>
        </p:nvGrpSpPr>
        <p:grpSpPr>
          <a:xfrm>
            <a:off x="7756200" y="3094560"/>
            <a:ext cx="1043280" cy="1218960"/>
            <a:chOff x="7756200" y="3094560"/>
            <a:chExt cx="1043280" cy="1218960"/>
          </a:xfrm>
        </p:grpSpPr>
        <p:sp>
          <p:nvSpPr>
            <p:cNvPr id="102" name="Rectangle 8"/>
            <p:cNvSpPr/>
            <p:nvPr/>
          </p:nvSpPr>
          <p:spPr>
            <a:xfrm>
              <a:off x="7756200" y="3293640"/>
              <a:ext cx="1043280" cy="820800"/>
            </a:xfrm>
            <a:prstGeom prst="rect">
              <a:avLst/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BDD</a:t>
              </a:r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Ellipse 3"/>
            <p:cNvSpPr/>
            <p:nvPr/>
          </p:nvSpPr>
          <p:spPr>
            <a:xfrm>
              <a:off x="7756200" y="3094560"/>
              <a:ext cx="1043280" cy="397800"/>
            </a:xfrm>
            <a:prstGeom prst="ellipse">
              <a:avLst/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" name="Ellipse 5"/>
            <p:cNvSpPr/>
            <p:nvPr/>
          </p:nvSpPr>
          <p:spPr>
            <a:xfrm>
              <a:off x="7756200" y="3915720"/>
              <a:ext cx="1043280" cy="397800"/>
            </a:xfrm>
            <a:prstGeom prst="ellipse">
              <a:avLst/>
            </a:prstGeom>
            <a:solidFill>
              <a:srgbClr val="4472C4"/>
            </a:solidFill>
            <a:ln>
              <a:solidFill>
                <a:srgbClr val="3254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5" name="Flèche en arc 19"/>
          <p:cNvSpPr/>
          <p:nvPr/>
        </p:nvSpPr>
        <p:spPr>
          <a:xfrm>
            <a:off x="8376480" y="2366640"/>
            <a:ext cx="2321640" cy="16671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25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ZoneTexte 20"/>
          <p:cNvSpPr/>
          <p:nvPr/>
        </p:nvSpPr>
        <p:spPr>
          <a:xfrm>
            <a:off x="8395920" y="2143440"/>
            <a:ext cx="230256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Affichage des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Flèche en arc 22"/>
          <p:cNvSpPr/>
          <p:nvPr/>
        </p:nvSpPr>
        <p:spPr>
          <a:xfrm rot="10800000">
            <a:off x="8377200" y="3380760"/>
            <a:ext cx="2321640" cy="166716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25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ZoneTexte 23"/>
          <p:cNvSpPr/>
          <p:nvPr/>
        </p:nvSpPr>
        <p:spPr>
          <a:xfrm>
            <a:off x="8074080" y="4982760"/>
            <a:ext cx="34412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Modification de certaines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24"/>
          <p:cNvSpPr/>
          <p:nvPr/>
        </p:nvSpPr>
        <p:spPr>
          <a:xfrm>
            <a:off x="9950760" y="3159360"/>
            <a:ext cx="1355040" cy="10681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Site web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25"/>
          <p:cNvSpPr/>
          <p:nvPr/>
        </p:nvSpPr>
        <p:spPr>
          <a:xfrm>
            <a:off x="4645440" y="3186000"/>
            <a:ext cx="1959480" cy="10681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Collecte de données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(script python)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Flèche droite rayée 26"/>
          <p:cNvSpPr/>
          <p:nvPr/>
        </p:nvSpPr>
        <p:spPr>
          <a:xfrm>
            <a:off x="6605280" y="3582360"/>
            <a:ext cx="1150560" cy="3330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ZoneTexte 27"/>
          <p:cNvSpPr/>
          <p:nvPr/>
        </p:nvSpPr>
        <p:spPr>
          <a:xfrm>
            <a:off x="6610680" y="3335040"/>
            <a:ext cx="835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upload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28"/>
          <p:cNvSpPr/>
          <p:nvPr/>
        </p:nvSpPr>
        <p:spPr>
          <a:xfrm>
            <a:off x="1395360" y="3159360"/>
            <a:ext cx="1959480" cy="106812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Publication des données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Flèche vers la droite 29"/>
          <p:cNvSpPr/>
          <p:nvPr/>
        </p:nvSpPr>
        <p:spPr>
          <a:xfrm>
            <a:off x="3355200" y="3582360"/>
            <a:ext cx="1289880" cy="33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ZoneTexte 30"/>
          <p:cNvSpPr/>
          <p:nvPr/>
        </p:nvSpPr>
        <p:spPr>
          <a:xfrm>
            <a:off x="6605280" y="3745440"/>
            <a:ext cx="1060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 options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e 29"/>
          <p:cNvGrpSpPr/>
          <p:nvPr/>
        </p:nvGrpSpPr>
        <p:grpSpPr>
          <a:xfrm>
            <a:off x="2986920" y="4654440"/>
            <a:ext cx="8503920" cy="1834560"/>
            <a:chOff x="2986920" y="4654440"/>
            <a:chExt cx="8503920" cy="1834560"/>
          </a:xfrm>
        </p:grpSpPr>
        <p:sp>
          <p:nvSpPr>
            <p:cNvPr id="117" name="Ellipse 30"/>
            <p:cNvSpPr/>
            <p:nvPr/>
          </p:nvSpPr>
          <p:spPr>
            <a:xfrm>
              <a:off x="2986920" y="4654440"/>
              <a:ext cx="5981040" cy="183456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70AD47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8" name="ZoneTexte 31"/>
            <p:cNvSpPr/>
            <p:nvPr/>
          </p:nvSpPr>
          <p:spPr>
            <a:xfrm>
              <a:off x="8968320" y="5373720"/>
              <a:ext cx="2522520" cy="37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 PC sous Linux (Ubuntu)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VM ou physique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" name="Groupe 26"/>
          <p:cNvGrpSpPr/>
          <p:nvPr/>
        </p:nvGrpSpPr>
        <p:grpSpPr>
          <a:xfrm>
            <a:off x="2871360" y="3223440"/>
            <a:ext cx="7686720" cy="1388520"/>
            <a:chOff x="2871360" y="3223440"/>
            <a:chExt cx="7686720" cy="1388520"/>
          </a:xfrm>
        </p:grpSpPr>
        <p:sp>
          <p:nvSpPr>
            <p:cNvPr id="120" name="Ellipse 27"/>
            <p:cNvSpPr/>
            <p:nvPr/>
          </p:nvSpPr>
          <p:spPr>
            <a:xfrm>
              <a:off x="2871360" y="3223440"/>
              <a:ext cx="5981040" cy="138852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70AD47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" name="ZoneTexte 28"/>
            <p:cNvSpPr/>
            <p:nvPr/>
          </p:nvSpPr>
          <p:spPr>
            <a:xfrm>
              <a:off x="8852400" y="3768120"/>
              <a:ext cx="170568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 PC Windows 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VM ou physique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2" name="Groupe 25"/>
          <p:cNvGrpSpPr/>
          <p:nvPr/>
        </p:nvGrpSpPr>
        <p:grpSpPr>
          <a:xfrm>
            <a:off x="2871360" y="41400"/>
            <a:ext cx="8503560" cy="3128400"/>
            <a:chOff x="2871360" y="41400"/>
            <a:chExt cx="8503560" cy="3128400"/>
          </a:xfrm>
        </p:grpSpPr>
        <p:sp>
          <p:nvSpPr>
            <p:cNvPr id="123" name="Ellipse 23"/>
            <p:cNvSpPr/>
            <p:nvPr/>
          </p:nvSpPr>
          <p:spPr>
            <a:xfrm>
              <a:off x="2871360" y="41400"/>
              <a:ext cx="5981040" cy="31284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70AD47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4" name="ZoneTexte 24"/>
            <p:cNvSpPr/>
            <p:nvPr/>
          </p:nvSpPr>
          <p:spPr>
            <a:xfrm>
              <a:off x="8852400" y="1268280"/>
              <a:ext cx="252252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 PC sous Linux (Ubuntu)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VM ou physique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5" name="ZoneTexte 10"/>
          <p:cNvSpPr/>
          <p:nvPr/>
        </p:nvSpPr>
        <p:spPr>
          <a:xfrm>
            <a:off x="462600" y="204480"/>
            <a:ext cx="221940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1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6" name="Groupe 22"/>
          <p:cNvGrpSpPr/>
          <p:nvPr/>
        </p:nvGrpSpPr>
        <p:grpSpPr>
          <a:xfrm>
            <a:off x="2022480" y="495000"/>
            <a:ext cx="8283960" cy="5409720"/>
            <a:chOff x="2022480" y="495000"/>
            <a:chExt cx="8283960" cy="5409720"/>
          </a:xfrm>
        </p:grpSpPr>
        <p:sp>
          <p:nvSpPr>
            <p:cNvPr id="127" name="ZoneTexte 3"/>
            <p:cNvSpPr/>
            <p:nvPr/>
          </p:nvSpPr>
          <p:spPr>
            <a:xfrm>
              <a:off x="3969720" y="495000"/>
              <a:ext cx="3668040" cy="645840"/>
            </a:xfrm>
            <a:prstGeom prst="rect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Programme d’acquisition de données</a:t>
              </a:r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	ID, Timestamp, Data</a:t>
              </a:r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ZoneTexte 4"/>
            <p:cNvSpPr/>
            <p:nvPr/>
          </p:nvSpPr>
          <p:spPr>
            <a:xfrm>
              <a:off x="3969720" y="2082960"/>
              <a:ext cx="3668040" cy="645840"/>
            </a:xfrm>
            <a:prstGeom prst="rect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Fichier avec une représentation des données parmi : csv, yaml, json</a:t>
              </a:r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ZoneTexte 5"/>
            <p:cNvSpPr/>
            <p:nvPr/>
          </p:nvSpPr>
          <p:spPr>
            <a:xfrm>
              <a:off x="3969720" y="3670920"/>
              <a:ext cx="3668040" cy="645840"/>
            </a:xfrm>
            <a:prstGeom prst="rect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Base données (MySQL)</a:t>
              </a:r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Schéma à concevoir</a:t>
              </a:r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ZoneTexte 6"/>
            <p:cNvSpPr/>
            <p:nvPr/>
          </p:nvSpPr>
          <p:spPr>
            <a:xfrm>
              <a:off x="3969720" y="5258880"/>
              <a:ext cx="3668040" cy="645840"/>
            </a:xfrm>
            <a:prstGeom prst="rect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Serveur de présentation des données</a:t>
              </a:r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rPr>
                <a:t>Format web avec django</a:t>
              </a:r>
              <a:endParaRPr lang="fr-F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1" name="Connecteur droit avec flèche 8"/>
            <p:cNvCxnSpPr>
              <a:stCxn id="127" idx="2"/>
              <a:endCxn id="128" idx="0"/>
            </p:cNvCxnSpPr>
            <p:nvPr/>
          </p:nvCxnSpPr>
          <p:spPr>
            <a:xfrm>
              <a:off x="5803560" y="1140840"/>
              <a:ext cx="360" cy="942480"/>
            </a:xfrm>
            <a:prstGeom prst="straightConnector1">
              <a:avLst/>
            </a:prstGeom>
            <a:ln w="38100">
              <a:solidFill>
                <a:srgbClr val="4472C4"/>
              </a:solidFill>
              <a:tailEnd type="triangle" w="med" len="med"/>
            </a:ln>
          </p:spPr>
        </p:cxnSp>
        <p:cxnSp>
          <p:nvCxnSpPr>
            <p:cNvPr id="132" name="Connecteur droit avec flèche 9"/>
            <p:cNvCxnSpPr/>
            <p:nvPr/>
          </p:nvCxnSpPr>
          <p:spPr>
            <a:xfrm>
              <a:off x="5803560" y="2728800"/>
              <a:ext cx="360" cy="942120"/>
            </a:xfrm>
            <a:prstGeom prst="straightConnector1">
              <a:avLst/>
            </a:prstGeom>
            <a:ln w="38100">
              <a:solidFill>
                <a:srgbClr val="4472C4"/>
              </a:solidFill>
              <a:tailEnd type="triangle" w="med" len="med"/>
            </a:ln>
          </p:spPr>
        </p:cxnSp>
        <p:cxnSp>
          <p:nvCxnSpPr>
            <p:cNvPr id="133" name="Connecteur droit avec flèche 11"/>
            <p:cNvCxnSpPr/>
            <p:nvPr/>
          </p:nvCxnSpPr>
          <p:spPr>
            <a:xfrm>
              <a:off x="4867560" y="4316760"/>
              <a:ext cx="360" cy="942120"/>
            </a:xfrm>
            <a:prstGeom prst="straightConnector1">
              <a:avLst/>
            </a:prstGeom>
            <a:ln w="38100">
              <a:solidFill>
                <a:srgbClr val="4472C4"/>
              </a:solidFill>
              <a:tailEnd type="triangle" w="med" len="med"/>
            </a:ln>
          </p:spPr>
        </p:cxnSp>
        <p:cxnSp>
          <p:nvCxnSpPr>
            <p:cNvPr id="134" name="Connecteur droit avec flèche 12"/>
            <p:cNvCxnSpPr/>
            <p:nvPr/>
          </p:nvCxnSpPr>
          <p:spPr>
            <a:xfrm flipV="1">
              <a:off x="6497280" y="4316760"/>
              <a:ext cx="360" cy="942120"/>
            </a:xfrm>
            <a:prstGeom prst="straightConnector1">
              <a:avLst/>
            </a:prstGeom>
            <a:ln w="38100">
              <a:solidFill>
                <a:srgbClr val="4472C4"/>
              </a:solidFill>
              <a:tailEnd type="triangle" w="med" len="med"/>
            </a:ln>
          </p:spPr>
        </p:cxnSp>
        <p:sp>
          <p:nvSpPr>
            <p:cNvPr id="135" name="ZoneTexte 17"/>
            <p:cNvSpPr/>
            <p:nvPr/>
          </p:nvSpPr>
          <p:spPr>
            <a:xfrm>
              <a:off x="5911200" y="2876760"/>
              <a:ext cx="301608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Crontab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Gestion des données à insérer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ZoneTexte 18"/>
            <p:cNvSpPr/>
            <p:nvPr/>
          </p:nvSpPr>
          <p:spPr>
            <a:xfrm>
              <a:off x="6095880" y="1168560"/>
              <a:ext cx="2054520" cy="92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Mise en place des données dans un fichier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ZoneTexte 19"/>
            <p:cNvSpPr/>
            <p:nvPr/>
          </p:nvSpPr>
          <p:spPr>
            <a:xfrm>
              <a:off x="2022480" y="4603320"/>
              <a:ext cx="26755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Récupération des données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ZoneTexte 21"/>
            <p:cNvSpPr/>
            <p:nvPr/>
          </p:nvSpPr>
          <p:spPr>
            <a:xfrm>
              <a:off x="6617880" y="4603320"/>
              <a:ext cx="368856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Modification des données du capteur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(nom, emplacement)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e 33"/>
          <p:cNvGrpSpPr/>
          <p:nvPr/>
        </p:nvGrpSpPr>
        <p:grpSpPr>
          <a:xfrm>
            <a:off x="2744280" y="4799520"/>
            <a:ext cx="8503920" cy="1834560"/>
            <a:chOff x="2744280" y="4799520"/>
            <a:chExt cx="8503920" cy="1834560"/>
          </a:xfrm>
        </p:grpSpPr>
        <p:sp>
          <p:nvSpPr>
            <p:cNvPr id="140" name="Ellipse 34"/>
            <p:cNvSpPr/>
            <p:nvPr/>
          </p:nvSpPr>
          <p:spPr>
            <a:xfrm>
              <a:off x="2744280" y="4799520"/>
              <a:ext cx="5981040" cy="183456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70AD47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1" name="ZoneTexte 35"/>
            <p:cNvSpPr/>
            <p:nvPr/>
          </p:nvSpPr>
          <p:spPr>
            <a:xfrm>
              <a:off x="8725680" y="5518800"/>
              <a:ext cx="2522520" cy="37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 PC sous Linux (Ubuntu)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VM ou physique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2" name="Groupe 36"/>
          <p:cNvGrpSpPr/>
          <p:nvPr/>
        </p:nvGrpSpPr>
        <p:grpSpPr>
          <a:xfrm>
            <a:off x="2653920" y="3294000"/>
            <a:ext cx="7828200" cy="1388520"/>
            <a:chOff x="2653920" y="3294000"/>
            <a:chExt cx="7828200" cy="1388520"/>
          </a:xfrm>
        </p:grpSpPr>
        <p:sp>
          <p:nvSpPr>
            <p:cNvPr id="143" name="Ellipse 37"/>
            <p:cNvSpPr/>
            <p:nvPr/>
          </p:nvSpPr>
          <p:spPr>
            <a:xfrm>
              <a:off x="2653920" y="3294000"/>
              <a:ext cx="5981040" cy="138852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70AD47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4" name="ZoneTexte 38"/>
            <p:cNvSpPr/>
            <p:nvPr/>
          </p:nvSpPr>
          <p:spPr>
            <a:xfrm>
              <a:off x="8635320" y="3838680"/>
              <a:ext cx="184680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 PC Windows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(VM ou physique)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5" name="Groupe 39"/>
          <p:cNvGrpSpPr/>
          <p:nvPr/>
        </p:nvGrpSpPr>
        <p:grpSpPr>
          <a:xfrm>
            <a:off x="2682360" y="157680"/>
            <a:ext cx="8503920" cy="1448280"/>
            <a:chOff x="2682360" y="157680"/>
            <a:chExt cx="8503920" cy="1448280"/>
          </a:xfrm>
        </p:grpSpPr>
        <p:sp>
          <p:nvSpPr>
            <p:cNvPr id="146" name="Ellipse 40"/>
            <p:cNvSpPr/>
            <p:nvPr/>
          </p:nvSpPr>
          <p:spPr>
            <a:xfrm>
              <a:off x="2682360" y="157680"/>
              <a:ext cx="5981040" cy="144828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70AD47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7" name="ZoneTexte 41"/>
            <p:cNvSpPr/>
            <p:nvPr/>
          </p:nvSpPr>
          <p:spPr>
            <a:xfrm>
              <a:off x="8663760" y="725760"/>
              <a:ext cx="2522520" cy="298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1 PC sous Linux (Ubuntu)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fr-FR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VM ou physique</a:t>
              </a:r>
              <a:endPara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8" name="ZoneTexte 10"/>
          <p:cNvSpPr/>
          <p:nvPr/>
        </p:nvSpPr>
        <p:spPr>
          <a:xfrm>
            <a:off x="462600" y="204480"/>
            <a:ext cx="221940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2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ZoneTexte 3"/>
          <p:cNvSpPr/>
          <p:nvPr/>
        </p:nvSpPr>
        <p:spPr>
          <a:xfrm>
            <a:off x="3969720" y="495000"/>
            <a:ext cx="3668040" cy="6458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Programme d’acquisition de données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ID, Timestamp, Data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ZoneTexte 5"/>
          <p:cNvSpPr/>
          <p:nvPr/>
        </p:nvSpPr>
        <p:spPr>
          <a:xfrm>
            <a:off x="3969720" y="3670920"/>
            <a:ext cx="3668040" cy="6458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Base données (MySQL)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Schéma à concevoir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ZoneTexte 6"/>
          <p:cNvSpPr/>
          <p:nvPr/>
        </p:nvSpPr>
        <p:spPr>
          <a:xfrm>
            <a:off x="3969720" y="5258880"/>
            <a:ext cx="3668040" cy="6458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Serveur de présentation des données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Format web avec django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2" name="Connecteur droit avec flèche 8"/>
          <p:cNvCxnSpPr>
            <a:stCxn id="149" idx="2"/>
            <a:endCxn id="150" idx="0"/>
          </p:cNvCxnSpPr>
          <p:nvPr/>
        </p:nvCxnSpPr>
        <p:spPr>
          <a:xfrm>
            <a:off x="5803560" y="1140840"/>
            <a:ext cx="360" cy="2530440"/>
          </a:xfrm>
          <a:prstGeom prst="straightConnector1">
            <a:avLst/>
          </a:prstGeom>
          <a:ln w="38100">
            <a:solidFill>
              <a:srgbClr val="4472C4"/>
            </a:solidFill>
            <a:tailEnd type="triangle" w="med" len="med"/>
          </a:ln>
        </p:spPr>
      </p:cxnSp>
      <p:cxnSp>
        <p:nvCxnSpPr>
          <p:cNvPr id="153" name="Connecteur droit avec flèche 11"/>
          <p:cNvCxnSpPr/>
          <p:nvPr/>
        </p:nvCxnSpPr>
        <p:spPr>
          <a:xfrm>
            <a:off x="4867560" y="4316760"/>
            <a:ext cx="360" cy="942120"/>
          </a:xfrm>
          <a:prstGeom prst="straightConnector1">
            <a:avLst/>
          </a:prstGeom>
          <a:ln w="38100">
            <a:solidFill>
              <a:srgbClr val="4472C4"/>
            </a:solidFill>
            <a:tailEnd type="triangle" w="med" len="med"/>
          </a:ln>
        </p:spPr>
      </p:cxnSp>
      <p:cxnSp>
        <p:nvCxnSpPr>
          <p:cNvPr id="154" name="Connecteur droit avec flèche 12"/>
          <p:cNvCxnSpPr/>
          <p:nvPr/>
        </p:nvCxnSpPr>
        <p:spPr>
          <a:xfrm flipV="1">
            <a:off x="6497280" y="4316760"/>
            <a:ext cx="360" cy="942120"/>
          </a:xfrm>
          <a:prstGeom prst="straightConnector1">
            <a:avLst/>
          </a:prstGeom>
          <a:ln w="38100">
            <a:solidFill>
              <a:srgbClr val="4472C4"/>
            </a:solidFill>
            <a:tailEnd type="triangle" w="med" len="med"/>
          </a:ln>
        </p:spPr>
      </p:cxnSp>
      <p:sp>
        <p:nvSpPr>
          <p:cNvPr id="155" name="ZoneTexte 18"/>
          <p:cNvSpPr/>
          <p:nvPr/>
        </p:nvSpPr>
        <p:spPr>
          <a:xfrm>
            <a:off x="6095880" y="1168560"/>
            <a:ext cx="3510360" cy="92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Mise en place des données dans la base de données directement via des requêtes SQL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ZoneTexte 19"/>
          <p:cNvSpPr/>
          <p:nvPr/>
        </p:nvSpPr>
        <p:spPr>
          <a:xfrm>
            <a:off x="2022480" y="4603320"/>
            <a:ext cx="26755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Récupération des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ZoneTexte 21"/>
          <p:cNvSpPr/>
          <p:nvPr/>
        </p:nvSpPr>
        <p:spPr>
          <a:xfrm>
            <a:off x="6617880" y="4603320"/>
            <a:ext cx="368856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Modification des données du capteur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(nom, emplacement)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Connecteur droit 13"/>
          <p:cNvCxnSpPr/>
          <p:nvPr/>
        </p:nvCxnSpPr>
        <p:spPr>
          <a:xfrm>
            <a:off x="5450400" y="2342520"/>
            <a:ext cx="645840" cy="108720"/>
          </a:xfrm>
          <a:prstGeom prst="straightConnector1">
            <a:avLst/>
          </a:prstGeom>
          <a:ln w="38100">
            <a:solidFill>
              <a:srgbClr val="4472C4"/>
            </a:solidFill>
          </a:ln>
        </p:spPr>
      </p:cxnSp>
      <p:cxnSp>
        <p:nvCxnSpPr>
          <p:cNvPr id="159" name="Connecteur droit 32"/>
          <p:cNvCxnSpPr/>
          <p:nvPr/>
        </p:nvCxnSpPr>
        <p:spPr>
          <a:xfrm>
            <a:off x="5461200" y="2549520"/>
            <a:ext cx="635040" cy="94320"/>
          </a:xfrm>
          <a:prstGeom prst="straightConnector1">
            <a:avLst/>
          </a:prstGeom>
          <a:ln w="38100">
            <a:solidFill>
              <a:srgbClr val="4472C4"/>
            </a:solidFill>
          </a:ln>
        </p:spPr>
      </p:cxnSp>
      <p:sp>
        <p:nvSpPr>
          <p:cNvPr id="160" name="ZoneTexte 16"/>
          <p:cNvSpPr/>
          <p:nvPr/>
        </p:nvSpPr>
        <p:spPr>
          <a:xfrm>
            <a:off x="6157080" y="2187720"/>
            <a:ext cx="6005160" cy="92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Gérer la connexion à la base de données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 cas de déconnexion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données dans un système de cache </a:t>
            </a:r>
            <a:br>
              <a:rPr sz="1800"/>
            </a:b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fr-FR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réuploader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dans la BDD lors de la reconnexion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base de données	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Sous Windows : VM ou natif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 tables avec 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ID, nom du capteur, pièce, emplacement du capteur : 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l’ID est unique et ne peut pas être changé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pièce provient des informations du capteur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nom et l’emplacement pourront être modifié dans la partie présentation des données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noter que le nom devra être unique comme l’ID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Les données avec un timestamp et une clé étrangère sur l’ID du capteur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Partie collecte des données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 options: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1 :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Créer un script d’insertion des données à partir du fichier généré par le script de collecte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Le démarrer toutes les X secondes (crontab) pour l’upload des données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2 :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 script et le documenter pour que l’insertion dans la base de données directement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Gérer les déconnexions/reconnexions de la base de données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partir de requêtes SQL de type (pas de libraries spécifiques) :	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INSERT INTO 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table_name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column1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column2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column3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...)</a:t>
            </a:r>
            <a:br>
              <a:rPr sz="2400"/>
            </a:b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VALUES (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value1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value2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value3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...);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SELECT 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column1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column2, .. 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FROM 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table1, table2 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WHERE </a:t>
            </a:r>
            <a:r>
              <a:rPr lang="fr-FR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table1.champs = table2.champs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;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Jointure de tables à prévoir</a:t>
            </a: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Présentation des données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Framework, os et logiciel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Sous Linux Debian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Outil : Django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Mise en place du serveur web (Apache ou Nginx) et du serveur applicatif gunicorn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Fonctionnalités 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Affichage des données brutes sous forme d’un tableau pour tous les capteurs ou pour un capteur à partir de la page du capteur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Modification du nom et de l’emplacement du capteur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Présentation des données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Fonctionnalités :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Affichage des données sous forme d’un tableau avec des filtres sur :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Le nom ou l’ID du capteur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Je veux les données du capteur </a:t>
            </a:r>
            <a:r>
              <a:rPr lang="fr-FR" sz="1800" b="0" i="1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12345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Je veux les données du capteur </a:t>
            </a:r>
            <a:r>
              <a:rPr lang="fr-FR" sz="1800" b="0" i="1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Capteur1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Une période de temps (bien choisir le type de données pour la BDD)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Je veux les données du 1/1/2022 au 21/6/2022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Possibilité de cumuler les filtres 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Je veux les données du capteur 12345 entre le 1/1/2022 au 21/6/2022 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Je veux les données du capteur Capteur1 entre le 1/1/2022 au 21/6/2022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Possibilité de ne pas mettre de filtres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C55A11"/>
              </a:buClr>
              <a:buFont typeface="Arial"/>
              <a:buChar char="•"/>
            </a:pPr>
            <a:r>
              <a:rPr lang="fr-FR" sz="18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Je veux les données toutes les données quelque soit la période ou le nom du capteur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fr-FR" sz="24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Fonctionnalité en supplèment: 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fr-FR" sz="20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Affichage graphique des données via une librairie Django / Python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fr-FR" sz="20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Extraction de données CSV (ou Excel)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fr-FR" sz="20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Mise à jour du site automatiquement : rafraichissement de la page automatique voire paramétrable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VALIDATIONS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20000"/>
          </a:bodyPr>
          <a:lstStyle/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Partie collecte de données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Modification du script Python pour collecter les données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1 : stockage dans un fichier </a:t>
            </a: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upload dans la base de données</a:t>
            </a: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ED7D31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Création d’un crontab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2 : </a:t>
            </a: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stockage dans la base de données directement</a:t>
            </a:r>
          </a:p>
          <a:p>
            <a:pPr marL="1143000" lvl="2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ED7D31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Partie reconnexion / déconnexion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Utilisation des requêtes SQL</a:t>
            </a: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Partie base données, modélisation de la BDD :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 tables, 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tous les champs décrits dans la partie BDD,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clés primaires, 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clé étrangère, 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nom unique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Visualisation des données déjà uploadées</a:t>
            </a: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20000"/>
          </a:bodyPr>
          <a:lstStyle/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Outils :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Une VM ou une machine physique Linux pour collecter les données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Une VM ou une machine physique Windows pour la BDD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Une VM ou une machine physique Linux pour la partie Django, serveur</a:t>
            </a: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Fonctionnalités :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Affichage des données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Modification du nom et de l’emplacement – les autres champs ne doivent pas être modifiable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Affichage des données avec un filtre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ED7D31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Affichage des données avec deux filtres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ED7D31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Affichage graphique des données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fr-FR" sz="24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Affichage graphique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fr-FR" sz="24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Extraction des données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fr-FR" sz="24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Mise à jour de la page automatiquement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fr-FR" sz="24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Mise à jour de la page paramétrable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499"/>
              </a:spcBef>
              <a:buNone/>
            </a:pP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499"/>
              </a:spcBef>
              <a:buNone/>
            </a:pP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ZoneTexte 4"/>
          <p:cNvSpPr/>
          <p:nvPr/>
        </p:nvSpPr>
        <p:spPr>
          <a:xfrm>
            <a:off x="6095880" y="381600"/>
            <a:ext cx="501768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En orange : ce qui peut être fait dans un 2</a:t>
            </a:r>
            <a:r>
              <a:rPr lang="fr-FR" sz="1800" b="0" u="none" strike="noStrike" baseline="30000">
                <a:solidFill>
                  <a:schemeClr val="accent2"/>
                </a:solidFill>
                <a:effectLst/>
                <a:uFillTx/>
                <a:latin typeface="Calibri"/>
              </a:rPr>
              <a:t>ème</a:t>
            </a:r>
            <a:r>
              <a:rPr lang="fr-FR" sz="1800" b="0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 temps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En bleu : des options 18/20 </a:t>
            </a:r>
            <a:r>
              <a:rPr lang="fr-FR" sz="1800" b="0" u="none" strike="noStrike">
                <a:solidFill>
                  <a:srgbClr val="0070C0"/>
                </a:solidFill>
                <a:effectLst/>
                <a:uFillTx/>
                <a:latin typeface="Wingdings"/>
              </a:rPr>
              <a:t></a:t>
            </a:r>
            <a:r>
              <a:rPr lang="fr-FR" sz="18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 20/20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ubTitle"/>
          </p:nvPr>
        </p:nvSpPr>
        <p:spPr>
          <a:xfrm>
            <a:off x="960480" y="304560"/>
            <a:ext cx="11027880" cy="371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 problème matériel </a:t>
            </a: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</a:t>
            </a: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Evan le technicien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 questions de compréhension </a:t>
            </a: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</a:t>
            </a: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Enseignant concerné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 questions d’ordre général </a:t>
            </a: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</a:t>
            </a: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M. MURA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 urgence (ne pas abuser !) </a:t>
            </a: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</a:t>
            </a: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M. MURA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Amusez-vous bien ;-)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</a:pP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1725</Words>
  <Application>Microsoft Office PowerPoint</Application>
  <PresentationFormat>Grand écran</PresentationFormat>
  <Paragraphs>258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Symbol</vt:lpstr>
      <vt:lpstr>Times New Roman</vt:lpstr>
      <vt:lpstr>Wingdings</vt:lpstr>
      <vt:lpstr>Thème Office</vt:lpstr>
      <vt:lpstr>SAE2.04</vt:lpstr>
      <vt:lpstr>Organisation </vt:lpstr>
      <vt:lpstr>Organisation </vt:lpstr>
      <vt:lpstr>Organisation </vt:lpstr>
      <vt:lpstr>Organisation </vt:lpstr>
      <vt:lpstr>GROUPES et SALLES:  C001 - C007 - C100 - C102 - C103 - C104  </vt:lpstr>
      <vt:lpstr>Matériel mis à disposition par Groupe:</vt:lpstr>
      <vt:lpstr>Consignes:</vt:lpstr>
      <vt:lpstr>Partie Réseau</vt:lpstr>
      <vt:lpstr>Partie réseau</vt:lpstr>
      <vt:lpstr>Tâches à effectuer</vt:lpstr>
      <vt:lpstr>Gestion des VLAN</vt:lpstr>
      <vt:lpstr>Adressage et connectivité</vt:lpstr>
      <vt:lpstr>Sécurité du serveur</vt:lpstr>
      <vt:lpstr>Support pour les autres parties</vt:lpstr>
      <vt:lpstr>Partie Téléphonie</vt:lpstr>
      <vt:lpstr>Partie Téléphonie:</vt:lpstr>
      <vt:lpstr>Partie Téléphonie:</vt:lpstr>
      <vt:lpstr>Présentation PowerPoint</vt:lpstr>
      <vt:lpstr>Partie Collecte de Données</vt:lpstr>
      <vt:lpstr>Partie récupération des données de capteurs</vt:lpstr>
      <vt:lpstr>Partie récupération des données de capteurs</vt:lpstr>
      <vt:lpstr>Partie récupération des données de capteurs</vt:lpstr>
      <vt:lpstr>Partie Web et Base de Données</vt:lpstr>
      <vt:lpstr>Partie Web et BdD : Prérequis</vt:lpstr>
      <vt:lpstr>Schéma général</vt:lpstr>
      <vt:lpstr>Présentation PowerPoint</vt:lpstr>
      <vt:lpstr>Présentation PowerPoint</vt:lpstr>
      <vt:lpstr>Partie base de données </vt:lpstr>
      <vt:lpstr>Partie collecte des données</vt:lpstr>
      <vt:lpstr>Présentation des données</vt:lpstr>
      <vt:lpstr>Présentation des données</vt:lpstr>
      <vt:lpstr>VALIDATIONS</vt:lpstr>
      <vt:lpstr>Présentation PowerPoint</vt:lpstr>
      <vt:lpstr>Amusez-vous bien ;-)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Prérequis</dc:title>
  <dc:subject/>
  <dc:creator>Frédéric Drouhin</dc:creator>
  <dc:description/>
  <cp:lastModifiedBy>compte.local</cp:lastModifiedBy>
  <cp:revision>141</cp:revision>
  <dcterms:created xsi:type="dcterms:W3CDTF">2022-06-09T11:05:10Z</dcterms:created>
  <dcterms:modified xsi:type="dcterms:W3CDTF">2025-06-16T06:15:20Z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31</vt:i4>
  </property>
</Properties>
</file>